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530" r:id="rId5"/>
    <p:sldId id="533" r:id="rId6"/>
    <p:sldId id="531" r:id="rId7"/>
    <p:sldId id="547" r:id="rId8"/>
    <p:sldId id="556" r:id="rId9"/>
    <p:sldId id="548" r:id="rId10"/>
    <p:sldId id="557" r:id="rId11"/>
    <p:sldId id="538" r:id="rId12"/>
    <p:sldId id="560" r:id="rId13"/>
    <p:sldId id="549" r:id="rId14"/>
    <p:sldId id="561" r:id="rId15"/>
    <p:sldId id="550" r:id="rId16"/>
    <p:sldId id="567" r:id="rId17"/>
    <p:sldId id="551" r:id="rId18"/>
    <p:sldId id="563" r:id="rId19"/>
    <p:sldId id="552" r:id="rId20"/>
    <p:sldId id="565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8" r:id="rId29"/>
    <p:sldId id="579" r:id="rId30"/>
    <p:sldId id="576" r:id="rId31"/>
    <p:sldId id="564" r:id="rId32"/>
    <p:sldId id="553" r:id="rId33"/>
    <p:sldId id="554" r:id="rId34"/>
    <p:sldId id="555" r:id="rId35"/>
    <p:sldId id="54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52B"/>
    <a:srgbClr val="F01689"/>
    <a:srgbClr val="F01688"/>
    <a:srgbClr val="8822EE"/>
    <a:srgbClr val="2F21F3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1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Data Analysis</a:t>
            </a:r>
            <a:br>
              <a:rPr lang="en-US" dirty="0"/>
            </a:br>
            <a:r>
              <a:rPr lang="en-US" sz="2500" dirty="0"/>
              <a:t>Istanbul Shopping Malls –(2021-2023)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6257" y="4049487"/>
            <a:ext cx="8109857" cy="2002970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BY</a:t>
            </a:r>
          </a:p>
          <a:p>
            <a:pPr lvl="5" algn="l"/>
            <a:r>
              <a:rPr lang="en-US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Name :</a:t>
            </a:r>
            <a:r>
              <a:rPr lang="en-US" sz="2000" b="1" dirty="0">
                <a:solidFill>
                  <a:srgbClr val="F01688"/>
                </a:solidFill>
                <a:latin typeface="Comic Sans MS" panose="030F0702030302020204" pitchFamily="66" charset="0"/>
              </a:rPr>
              <a:t> JENIHELAN M</a:t>
            </a:r>
          </a:p>
          <a:p>
            <a:pPr lvl="5" algn="l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Project id:</a:t>
            </a:r>
            <a:r>
              <a:rPr lang="en-IN" sz="2000" b="1" dirty="0">
                <a:solidFill>
                  <a:srgbClr val="F01688"/>
                </a:solidFill>
                <a:latin typeface="Comic Sans MS" panose="030F0702030302020204" pitchFamily="66" charset="0"/>
              </a:rPr>
              <a:t> PTID-CDA-MAR-26-1371       </a:t>
            </a:r>
          </a:p>
          <a:p>
            <a:pPr lvl="5" algn="l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Project Code:  </a:t>
            </a:r>
            <a:r>
              <a:rPr lang="en-IN" sz="2000" b="1" dirty="0">
                <a:solidFill>
                  <a:srgbClr val="F01688"/>
                </a:solidFill>
                <a:latin typeface="Comic Sans MS" panose="030F0702030302020204" pitchFamily="66" charset="0"/>
              </a:rPr>
              <a:t>PRDA-05</a:t>
            </a:r>
          </a:p>
          <a:p>
            <a:pPr lvl="5" algn="l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Date : 23/03/2026</a:t>
            </a:r>
          </a:p>
          <a:p>
            <a:pPr lvl="3" algn="l"/>
            <a:endParaRPr lang="en-US" b="1" dirty="0">
              <a:latin typeface="Comic Sans MS" panose="030F0702030302020204" pitchFamily="66" charset="0"/>
            </a:endParaRPr>
          </a:p>
          <a:p>
            <a:pPr lvl="1" algn="l"/>
            <a:endParaRPr lang="en-US" b="1" dirty="0">
              <a:latin typeface="Comic Sans MS" panose="030F0702030302020204" pitchFamily="66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8307">
        <p159:morph option="byObject"/>
      </p:transition>
    </mc:Choice>
    <mc:Fallback xmlns="">
      <p:transition spd="slow" advTm="1830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144512" cy="1790482"/>
          </a:xfrm>
        </p:spPr>
        <p:txBody>
          <a:bodyPr/>
          <a:lstStyle/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Customer data helps understand buying behavior 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Analysis based on gender, age, category &amp; payment 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Built using Power BI dashboard 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5477">
        <p159:morph option="byObject"/>
      </p:transition>
    </mc:Choice>
    <mc:Fallback xmlns="">
      <p:transition spd="slow" advTm="2547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OBJECTIVES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8878824" cy="3282696"/>
          </a:xfrm>
        </p:spPr>
        <p:txBody>
          <a:bodyPr/>
          <a:lstStyle/>
          <a:p>
            <a:pPr marL="342900" indent="-342900"/>
            <a:r>
              <a:rPr lang="en-US" dirty="0">
                <a:latin typeface="Comic Sans MS" panose="030F0702030302020204" pitchFamily="66" charset="0"/>
              </a:rPr>
              <a:t>Analyze customer shopping behavior by gender and age group</a:t>
            </a:r>
          </a:p>
          <a:p>
            <a:pPr marL="342900" indent="-342900"/>
            <a:r>
              <a:rPr lang="en-US" dirty="0">
                <a:latin typeface="Comic Sans MS" panose="030F0702030302020204" pitchFamily="66" charset="0"/>
              </a:rPr>
              <a:t>Identify top customer segments and product categories</a:t>
            </a:r>
          </a:p>
          <a:p>
            <a:pPr marL="342900" indent="-342900"/>
            <a:r>
              <a:rPr lang="en-US" dirty="0">
                <a:latin typeface="Comic Sans MS" panose="030F0702030302020204" pitchFamily="66" charset="0"/>
              </a:rPr>
              <a:t>Examine payment preferences and generate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3362">
        <p159:morph option="byObject"/>
      </p:transition>
    </mc:Choice>
    <mc:Fallback xmlns="">
      <p:transition spd="slow" advTm="23362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CAF9-3423-14F9-67DC-D4E3AED6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15B2-1D89-6456-A604-865B2CD01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Dataset overview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97BE8-27E5-4A46-AAFC-42C06B3E6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001EA-A7F8-B2A7-6D1C-91433979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8878824" cy="3282696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99,000+</a:t>
            </a:r>
            <a:r>
              <a:rPr lang="en-US" dirty="0">
                <a:latin typeface="Comic Sans MS" panose="030F0702030302020204" pitchFamily="66" charset="0"/>
              </a:rPr>
              <a:t> transactions 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10 shopping malls in</a:t>
            </a:r>
            <a:r>
              <a:rPr lang="en-US" dirty="0">
                <a:latin typeface="Comic Sans MS" panose="030F0702030302020204" pitchFamily="66" charset="0"/>
              </a:rPr>
              <a:t> Istanbul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Years: </a:t>
            </a:r>
            <a:r>
              <a:rPr lang="en-US" dirty="0">
                <a:latin typeface="Comic Sans MS" panose="030F0702030302020204" pitchFamily="66" charset="0"/>
              </a:rPr>
              <a:t>2021–2023 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Fields: </a:t>
            </a:r>
            <a:r>
              <a:rPr lang="en-US" dirty="0">
                <a:latin typeface="Comic Sans MS" panose="030F0702030302020204" pitchFamily="66" charset="0"/>
              </a:rPr>
              <a:t>Invoice Number, Customer ID , Gender, Age, Category, Quantity, Price, Payment Method, Invoice Date, Shopping Mall</a:t>
            </a:r>
          </a:p>
        </p:txBody>
      </p:sp>
    </p:spTree>
    <p:extLst>
      <p:ext uri="{BB962C8B-B14F-4D97-AF65-F5344CB8AC3E}">
        <p14:creationId xmlns:p14="http://schemas.microsoft.com/office/powerpoint/2010/main" val="545803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1810">
        <p159:morph option="byObject"/>
      </p:transition>
    </mc:Choice>
    <mc:Fallback xmlns="">
      <p:transition spd="slow" advTm="3181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564D-4CEF-8BB4-E6F3-EEC4FADA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92E4-FC76-9C3C-8785-9FD2E44F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Dataset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13363-7F3D-C6D1-C6F3-D0A04C0732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9C37FF-D156-4D60-32CE-015511016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29"/>
          <a:stretch>
            <a:fillRect/>
          </a:stretch>
        </p:blipFill>
        <p:spPr>
          <a:xfrm>
            <a:off x="1609299" y="2243034"/>
            <a:ext cx="4822257" cy="3158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379347-F695-88E5-B162-0F21309B4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9" b="6471"/>
          <a:stretch>
            <a:fillRect/>
          </a:stretch>
        </p:blipFill>
        <p:spPr>
          <a:xfrm>
            <a:off x="6545688" y="2243034"/>
            <a:ext cx="4851643" cy="317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94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479">
        <p159:morph option="byObject"/>
      </p:transition>
    </mc:Choice>
    <mc:Fallback xmlns="">
      <p:transition spd="slow" advTm="7479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AA40-FC3D-33A8-07F0-D51F5BEF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B9F5-D18E-2FEB-364E-81C0C65C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Data Preparation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4E5BE-F1F3-5510-EB1B-4320DE8512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07967-125C-2128-89BE-3907D46B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8878824" cy="3282696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Removed duplicates </a:t>
            </a:r>
          </a:p>
          <a:p>
            <a:r>
              <a:rPr lang="en-US" dirty="0">
                <a:latin typeface="Comic Sans MS" panose="030F0702030302020204" pitchFamily="66" charset="0"/>
              </a:rPr>
              <a:t>Created new measure :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                 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Revenue = Quantity × Price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</a:p>
          <a:p>
            <a:r>
              <a:rPr lang="en-US" dirty="0">
                <a:latin typeface="Comic Sans MS" panose="030F0702030302020204" pitchFamily="66" charset="0"/>
              </a:rPr>
              <a:t>Created </a:t>
            </a:r>
            <a:r>
              <a:rPr lang="en-US" b="1" dirty="0">
                <a:latin typeface="Comic Sans MS" panose="030F0702030302020204" pitchFamily="66" charset="0"/>
              </a:rPr>
              <a:t>Age Group column</a:t>
            </a:r>
            <a:r>
              <a:rPr lang="en-US" dirty="0">
                <a:latin typeface="Comic Sans MS" panose="030F0702030302020204" pitchFamily="66" charset="0"/>
              </a:rPr>
              <a:t> </a:t>
            </a:r>
          </a:p>
          <a:p>
            <a:r>
              <a:rPr lang="en-US" dirty="0">
                <a:latin typeface="Comic Sans MS" panose="030F0702030302020204" pitchFamily="66" charset="0"/>
              </a:rPr>
              <a:t>Cleaned data using Power Query </a:t>
            </a:r>
          </a:p>
        </p:txBody>
      </p:sp>
    </p:spTree>
    <p:extLst>
      <p:ext uri="{BB962C8B-B14F-4D97-AF65-F5344CB8AC3E}">
        <p14:creationId xmlns:p14="http://schemas.microsoft.com/office/powerpoint/2010/main" val="407781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8758">
        <p159:morph option="byObject"/>
      </p:transition>
    </mc:Choice>
    <mc:Fallback xmlns="">
      <p:transition spd="slow" advTm="48758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0C92-0514-AB72-1B46-9741093C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AF2C-CE82-1556-2178-A3FB8B2B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Data Cleaning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F9DE6-74DC-4FAF-FF75-8B78E21C18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4271FE-7070-58C5-0374-0F02C6634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253"/>
          <a:stretch>
            <a:fillRect/>
          </a:stretch>
        </p:blipFill>
        <p:spPr>
          <a:xfrm>
            <a:off x="1536192" y="2082346"/>
            <a:ext cx="4966603" cy="2587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08B28B-3B21-9441-68F1-33889CAB6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29"/>
          <a:stretch>
            <a:fillRect/>
          </a:stretch>
        </p:blipFill>
        <p:spPr>
          <a:xfrm>
            <a:off x="6618513" y="2082345"/>
            <a:ext cx="4834315" cy="25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25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862">
        <p159:morph option="byObject"/>
      </p:transition>
    </mc:Choice>
    <mc:Fallback xmlns="">
      <p:transition spd="slow" advTm="386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KPI Cards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23E65A22-60BE-6825-BA56-A64CE2170FD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36193" y="1866892"/>
            <a:ext cx="3621024" cy="28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Gender Analysis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Age Analysis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Category Analysis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Payment Analysis 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3EE99D53-3EE9-C850-ADE0-573B316CEC83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5541262" y="2067649"/>
            <a:ext cx="4549221" cy="2147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Total Sales: 251.51M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Transactions: 99K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Products Sold: 299K 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428">
        <p159:morph option="byObject"/>
      </p:transition>
    </mc:Choice>
    <mc:Fallback xmlns="">
      <p:transition spd="slow" advTm="50428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D0D8-083F-DC91-068D-0408D180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D4D8-B4D7-21C6-D9D7-78C4A3B5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based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1659FE-2BDD-E2A3-85D1-7513A468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7B9AA2-3AA9-AEE4-E330-6596FBD5A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892808"/>
            <a:ext cx="7590614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05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017">
        <p159:morph option="byObject"/>
      </p:transition>
    </mc:Choice>
    <mc:Fallback xmlns="">
      <p:transition spd="slow" advTm="1901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16A6-B869-36D2-C706-1DFD8532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8A02-65AD-E0CC-4308-736BE73C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Gender Insights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F91ED-F7BC-095E-6D20-82F10F3288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4242151-4B00-6FF4-97F3-498C7DC49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6700" y="1346997"/>
            <a:ext cx="7006726" cy="280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Female: ~60% transactions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Comic Sans MS" panose="030F0702030302020204" pitchFamily="66" charset="0"/>
              </a:rPr>
              <a:t>Male : ~40% transactions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omic Sans MS" panose="030F0702030302020204" pitchFamily="66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Products Sold: 179K (Female) vs 120K (Male)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Revenue: 150M (Female) vs 101M (Male) </a:t>
            </a:r>
          </a:p>
        </p:txBody>
      </p:sp>
    </p:spTree>
    <p:extLst>
      <p:ext uri="{BB962C8B-B14F-4D97-AF65-F5344CB8AC3E}">
        <p14:creationId xmlns:p14="http://schemas.microsoft.com/office/powerpoint/2010/main" val="2627033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921">
        <p159:morph option="byObject"/>
      </p:transition>
    </mc:Choice>
    <mc:Fallback xmlns="">
      <p:transition spd="slow" advTm="2992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BD44-C443-A069-B777-14A2C5CB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2D8F-9A14-C778-D791-58B8ADDF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based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9779B0-9376-7BC4-7EA5-2B33AFD6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A0DC32-7AEC-13E5-80A2-53D3306C1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95" y="1892808"/>
            <a:ext cx="7695942" cy="420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22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4004">
        <p159:morph option="byObject"/>
      </p:transition>
    </mc:Choice>
    <mc:Fallback xmlns="">
      <p:transition spd="slow" advTm="3400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FF25-F41D-62EC-1ECC-AB7AC557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0A48-0A0C-38F2-F7F7-DAF844BF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AGE GROUP</a:t>
            </a: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 Insights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D442F-9428-D064-C3AC-BE580F2EBB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4E2A33F-0F6B-5497-47F0-DCD9430F1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6699" y="1388388"/>
            <a:ext cx="7655427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56+ → Highest revenue (67M)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56+ → Highest products (80K)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18–25 → Lowest contribution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26–55 → Balanced performance </a:t>
            </a:r>
          </a:p>
        </p:txBody>
      </p:sp>
    </p:spTree>
    <p:extLst>
      <p:ext uri="{BB962C8B-B14F-4D97-AF65-F5344CB8AC3E}">
        <p14:creationId xmlns:p14="http://schemas.microsoft.com/office/powerpoint/2010/main" val="469387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2166">
        <p159:morph option="byObject"/>
      </p:transition>
    </mc:Choice>
    <mc:Fallback xmlns="">
      <p:transition spd="slow" advTm="22166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6EE1B-F7AB-7987-9C9E-27FDDF32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9182-2FED-54C5-BFDE-858445EF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based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2E6CAD-C45E-8B19-C063-151B60B0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2C2282-D6BB-6384-BFAA-39BAB4B54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4" y="1891717"/>
            <a:ext cx="7646550" cy="420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20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8284">
        <p159:morph option="byObject"/>
      </p:transition>
    </mc:Choice>
    <mc:Fallback xmlns="">
      <p:transition spd="slow" advTm="1828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1BD4-C737-576F-4782-5A0CB9C2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C18-DDE4-AE9F-01B3-EDF3268F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Category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28919-D6BD-FBA6-A6FC-317E61AEAE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B07A7B-9AA4-6EEA-BEC7-E801CC78C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6193" y="1567631"/>
            <a:ext cx="6484860" cy="3809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Top categories: </a:t>
            </a:r>
          </a:p>
          <a:p>
            <a:pPr marL="1252728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Clothing (Highest Revenue)</a:t>
            </a:r>
          </a:p>
          <a:p>
            <a:pPr marL="1252728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Shoes </a:t>
            </a:r>
          </a:p>
          <a:p>
            <a:pPr marL="1252728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Technology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Female contribution higher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Mall of Istanbul &amp; Kanyon → top malls </a:t>
            </a:r>
          </a:p>
        </p:txBody>
      </p:sp>
    </p:spTree>
    <p:extLst>
      <p:ext uri="{BB962C8B-B14F-4D97-AF65-F5344CB8AC3E}">
        <p14:creationId xmlns:p14="http://schemas.microsoft.com/office/powerpoint/2010/main" val="1579445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6123">
        <p159:morph option="byObject"/>
      </p:transition>
    </mc:Choice>
    <mc:Fallback xmlns="">
      <p:transition spd="slow" advTm="26123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DE78-66F9-80C4-3B66-4E50401A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2EC1-0919-849C-4839-0BE90A34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based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2E618-B5D3-D2FA-5E8F-550F2EBC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987C2F-6521-C7D8-5112-22F0A721C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45" y="1856746"/>
            <a:ext cx="7459579" cy="405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72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53">
        <p159:morph option="byObject"/>
      </p:transition>
    </mc:Choice>
    <mc:Fallback xmlns="">
      <p:transition spd="slow" advTm="37653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8A69-03D6-1E1E-5D1B-3163FBEE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4253-4E6F-CC0C-321C-A41BB9E1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Payment Insights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091FD-E533-ACEC-5258-3B750D4BBE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761FC3-4802-6078-5235-244175644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6700" y="1525245"/>
            <a:ext cx="5714332" cy="270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Cash: ~45%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Credit Card: ~35%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Debit Card: ~20%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Cash preferred across all groups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7897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2921">
        <p159:morph option="byObject"/>
      </p:transition>
    </mc:Choice>
    <mc:Fallback xmlns="">
      <p:transition spd="slow" advTm="1292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0110-A571-D133-92D1-0FBBBF72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F20DF5-6C3F-8816-5C80-459D0E62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17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78D95F6-F35C-8658-4DCB-46D9918EBA8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2376799" y="2000451"/>
            <a:ext cx="6033803" cy="2456046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2F53377-FF7F-B8D1-6E4C-D42E20EB1A2A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0274B5-5F99-DFB4-7E68-1CD33175A917}"/>
              </a:ext>
            </a:extLst>
          </p:cNvPr>
          <p:cNvSpPr txBox="1"/>
          <p:nvPr/>
        </p:nvSpPr>
        <p:spPr>
          <a:xfrm>
            <a:off x="2050180" y="1507685"/>
            <a:ext cx="7757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1.How is the shopping distribution according to gender?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31AA3B-410C-EB1B-D1EF-9FFDE04FE41B}"/>
              </a:ext>
            </a:extLst>
          </p:cNvPr>
          <p:cNvSpPr txBox="1"/>
          <p:nvPr/>
        </p:nvSpPr>
        <p:spPr>
          <a:xfrm>
            <a:off x="2238374" y="4718735"/>
            <a:ext cx="6677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Female customers account for ~60% of transactions, indicating higher participation than males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712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3449">
        <p159:morph option="byObject"/>
      </p:transition>
    </mc:Choice>
    <mc:Fallback xmlns="">
      <p:transition spd="slow" advTm="33449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7E41-016A-3753-BC30-65412A66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241496-3001-3AA3-7CF8-02017A15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DAA74DA-1FB1-5683-C18D-13BAC4F416CA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36C5FE-3C8F-A9CF-5461-B7BB0125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51" y="1866530"/>
            <a:ext cx="5051112" cy="2578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B896F3-558F-7F95-CDBA-311C2B34A464}"/>
              </a:ext>
            </a:extLst>
          </p:cNvPr>
          <p:cNvSpPr txBox="1"/>
          <p:nvPr/>
        </p:nvSpPr>
        <p:spPr>
          <a:xfrm>
            <a:off x="1644649" y="1335142"/>
            <a:ext cx="6100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2.Which gender did we sell more products to?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FDF2F-5B2A-A895-0AEF-D9028C7822FE}"/>
              </a:ext>
            </a:extLst>
          </p:cNvPr>
          <p:cNvSpPr txBox="1"/>
          <p:nvPr/>
        </p:nvSpPr>
        <p:spPr>
          <a:xfrm>
            <a:off x="1882775" y="4655235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More products were sold to female customers 179K compared to male customers 120K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031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281">
        <p159:morph option="byObject"/>
      </p:transition>
    </mc:Choice>
    <mc:Fallback xmlns="">
      <p:transition spd="slow" advTm="2028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3036-CE10-F733-16BC-55BE5DA3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4909D4-941B-EB4F-0322-B78C9D43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BD8A48E-054E-DB4F-FFB3-851A79C6237A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0D77B8-0108-F9CB-BE2A-6F7F746B6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352" y="1746164"/>
            <a:ext cx="5087060" cy="2438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4AEFD2-6D26-BBFA-C474-B06A1A38DD8B}"/>
              </a:ext>
            </a:extLst>
          </p:cNvPr>
          <p:cNvSpPr txBox="1"/>
          <p:nvPr/>
        </p:nvSpPr>
        <p:spPr>
          <a:xfrm>
            <a:off x="1568446" y="1246744"/>
            <a:ext cx="6100232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3.Which gender generated more revenue?</a:t>
            </a: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5C0688-DF24-0C48-1942-D9E471BA86F8}"/>
              </a:ext>
            </a:extLst>
          </p:cNvPr>
          <p:cNvSpPr txBox="1"/>
          <p:nvPr/>
        </p:nvSpPr>
        <p:spPr>
          <a:xfrm>
            <a:off x="1806575" y="4388535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Female customers generated higher revenue 150M than male customers 101M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A0A90C88-2F72-80F8-3AE4-057860C1F0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3107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477">
        <p159:morph option="byObject"/>
      </p:transition>
    </mc:Choice>
    <mc:Fallback xmlns="">
      <p:transition spd="slow" advTm="1347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A5666-CAE0-9ED0-ABAA-40FEC749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8E0D8E-EF2A-B869-46DF-08831D78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1C280AE-D848-5CF2-69E4-056702CFC0EB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8AE7ED-77FA-ADA8-7121-1650D7350FCD}"/>
              </a:ext>
            </a:extLst>
          </p:cNvPr>
          <p:cNvSpPr txBox="1"/>
          <p:nvPr/>
        </p:nvSpPr>
        <p:spPr>
          <a:xfrm>
            <a:off x="1568446" y="1227494"/>
            <a:ext cx="7517802" cy="38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4.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Distribution of purchase categories relative to other columns?</a:t>
            </a: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B1688-ACF3-F6ED-4521-DD0C35EC70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/>
          <a:stretch>
            <a:fillRect/>
          </a:stretch>
        </p:blipFill>
        <p:spPr bwMode="auto">
          <a:xfrm>
            <a:off x="1888395" y="1831077"/>
            <a:ext cx="3247501" cy="2201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5A4A3B-5223-8F11-F898-DE87099312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2"/>
          <a:stretch>
            <a:fillRect/>
          </a:stretch>
        </p:blipFill>
        <p:spPr bwMode="auto">
          <a:xfrm>
            <a:off x="5236995" y="1831077"/>
            <a:ext cx="4227300" cy="2201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9BC2F-9FB0-0C7D-33C8-160127E81754}"/>
              </a:ext>
            </a:extLst>
          </p:cNvPr>
          <p:cNvSpPr txBox="1"/>
          <p:nvPr/>
        </p:nvSpPr>
        <p:spPr>
          <a:xfrm>
            <a:off x="1857374" y="4236135"/>
            <a:ext cx="7517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Clothing is the top category, with higher contribution from females and the 56+ age group</a:t>
            </a:r>
          </a:p>
        </p:txBody>
      </p:sp>
    </p:spTree>
    <p:extLst>
      <p:ext uri="{BB962C8B-B14F-4D97-AF65-F5344CB8AC3E}">
        <p14:creationId xmlns:p14="http://schemas.microsoft.com/office/powerpoint/2010/main" val="1178112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7268">
        <p159:morph option="byObject"/>
      </p:transition>
    </mc:Choice>
    <mc:Fallback xmlns="">
      <p:transition spd="slow" advTm="27268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BDF2-0B2B-4169-51B5-11467843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A4A8BB-5859-6025-F33B-EB33CB4F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F4783C8-3632-5449-1117-011ADCB72A58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5487A-D512-3BDE-2F73-9C7F0825C0E4}"/>
              </a:ext>
            </a:extLst>
          </p:cNvPr>
          <p:cNvSpPr txBox="1"/>
          <p:nvPr/>
        </p:nvSpPr>
        <p:spPr>
          <a:xfrm>
            <a:off x="1568446" y="1208244"/>
            <a:ext cx="6844034" cy="810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How is the shopping distribution according to age?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4F21C-070F-9A75-4F85-5D258F75A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88" y="1760470"/>
            <a:ext cx="5033477" cy="26344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CC322F-A6AF-5C9C-27E7-73529FE259B1}"/>
              </a:ext>
            </a:extLst>
          </p:cNvPr>
          <p:cNvSpPr txBox="1"/>
          <p:nvPr/>
        </p:nvSpPr>
        <p:spPr>
          <a:xfrm>
            <a:off x="1984375" y="4591735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The 56+ age group has the highest transaction share (~26.7%), while 18–25 contributes the least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205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6936">
        <p159:morph option="byObject"/>
      </p:transition>
    </mc:Choice>
    <mc:Fallback xmlns="">
      <p:transition spd="slow" advTm="26936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7C19-2CA7-19CA-392A-80668DE4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35DB8C-4871-0F68-38FE-0BE2B206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1ACF9DA-72D5-C318-D10C-BD6C74D928C5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706DF-920F-49BB-6DE5-DD5DE5CC3696}"/>
              </a:ext>
            </a:extLst>
          </p:cNvPr>
          <p:cNvSpPr txBox="1"/>
          <p:nvPr/>
        </p:nvSpPr>
        <p:spPr>
          <a:xfrm>
            <a:off x="1568445" y="1256998"/>
            <a:ext cx="7671807" cy="810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Which age category did we sell more products to?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FC91C-E1A7-C5E7-B67B-4B6AFD9BE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911" y="1784846"/>
            <a:ext cx="4828150" cy="31810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7EBC56-DF65-3197-C108-68E976B2BC26}"/>
              </a:ext>
            </a:extLst>
          </p:cNvPr>
          <p:cNvSpPr txBox="1"/>
          <p:nvPr/>
        </p:nvSpPr>
        <p:spPr>
          <a:xfrm>
            <a:off x="1984374" y="5214035"/>
            <a:ext cx="7070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The 56+ age group purchased the most products 80K, indicating higher buying volume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547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6946">
        <p159:morph option="byObject"/>
      </p:transition>
    </mc:Choice>
    <mc:Fallback xmlns="">
      <p:transition spd="slow" advTm="26946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269D-CA45-AB1A-4E22-A0806277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0DDD4D-D4B5-DCC6-C4C9-09B4C639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BA8F6-0604-01CA-2E56-DE456BE0367E}"/>
              </a:ext>
            </a:extLst>
          </p:cNvPr>
          <p:cNvSpPr txBox="1"/>
          <p:nvPr/>
        </p:nvSpPr>
        <p:spPr>
          <a:xfrm>
            <a:off x="1568446" y="1140865"/>
            <a:ext cx="6100232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.Which </a:t>
            </a: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age category</a:t>
            </a: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generated more revenue?</a:t>
            </a: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61116-B1F9-2707-3079-45C1E4D8E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"/>
          <a:stretch>
            <a:fillRect/>
          </a:stretch>
        </p:blipFill>
        <p:spPr bwMode="auto">
          <a:xfrm>
            <a:off x="1922278" y="1683568"/>
            <a:ext cx="5056038" cy="26381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62B1CF-E41E-D8D2-E668-5EBC4E7D0AE5}"/>
              </a:ext>
            </a:extLst>
          </p:cNvPr>
          <p:cNvSpPr txBox="1"/>
          <p:nvPr/>
        </p:nvSpPr>
        <p:spPr>
          <a:xfrm>
            <a:off x="1768475" y="4579035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The 56+ age group generated the highest revenue 67M, showing strong purchasing power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53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559">
        <p159:morph option="byObject"/>
      </p:transition>
    </mc:Choice>
    <mc:Fallback xmlns="">
      <p:transition spd="slow" advTm="13559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249B-1782-6586-7C64-614568C2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A284E4-AA22-647D-6DF2-B779064E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576305C-E0AC-64DC-545C-2F50739F6B3E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29CF9-9255-5EC8-2F27-3A84B11B72B2}"/>
              </a:ext>
            </a:extLst>
          </p:cNvPr>
          <p:cNvSpPr txBox="1"/>
          <p:nvPr/>
        </p:nvSpPr>
        <p:spPr>
          <a:xfrm>
            <a:off x="1568445" y="1140869"/>
            <a:ext cx="7546679" cy="810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Distribution of purchase categories relative to other columns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C00BB3-104B-3289-6D5D-62B5966E7E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2"/>
          <a:stretch>
            <a:fillRect/>
          </a:stretch>
        </p:blipFill>
        <p:spPr bwMode="auto">
          <a:xfrm>
            <a:off x="1854534" y="1744245"/>
            <a:ext cx="3639566" cy="25786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5974AE-F273-D08B-2094-03421CC36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81" y="1744245"/>
            <a:ext cx="3720807" cy="25786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0661F2-7723-A230-EA02-EE53B6AF8CAF}"/>
              </a:ext>
            </a:extLst>
          </p:cNvPr>
          <p:cNvSpPr txBox="1"/>
          <p:nvPr/>
        </p:nvSpPr>
        <p:spPr>
          <a:xfrm>
            <a:off x="1857375" y="4540935"/>
            <a:ext cx="7546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Clothing leads across all categories, with Cash as the most used payment and top malls driving higher revenue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091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196">
        <p159:morph option="byObject"/>
      </p:transition>
    </mc:Choice>
    <mc:Fallback xmlns="">
      <p:transition spd="slow" advTm="24196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4297-96E4-13DC-7328-8947AB55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6DA0A1-2247-F46C-0EAD-E35E4505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683A498-8E12-051B-233C-F0484631A4F6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169C0-F22D-136F-DDEE-ED90387279D4}"/>
              </a:ext>
            </a:extLst>
          </p:cNvPr>
          <p:cNvSpPr txBox="1"/>
          <p:nvPr/>
        </p:nvSpPr>
        <p:spPr>
          <a:xfrm>
            <a:off x="1568445" y="957986"/>
            <a:ext cx="7460051" cy="1231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9.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Does the payment method have a relation with other columns?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CE495D-89B6-366C-AEF7-37333DB3FC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" t="1662"/>
          <a:stretch>
            <a:fillRect/>
          </a:stretch>
        </p:blipFill>
        <p:spPr bwMode="auto">
          <a:xfrm>
            <a:off x="1980691" y="1573698"/>
            <a:ext cx="3338911" cy="30079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168766-B505-0B06-E188-8EFFB9CDA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772" y="1573699"/>
            <a:ext cx="3253340" cy="30079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8D90CC-19EF-DF87-C4D0-AEAD82E4F912}"/>
              </a:ext>
            </a:extLst>
          </p:cNvPr>
          <p:cNvSpPr txBox="1"/>
          <p:nvPr/>
        </p:nvSpPr>
        <p:spPr>
          <a:xfrm>
            <a:off x="1895474" y="4798563"/>
            <a:ext cx="868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Payment method shows consistent patterns across segments, with Cash preferred across gender, age, shopping malls and categories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10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043">
        <p159:morph option="byObject"/>
      </p:transition>
    </mc:Choice>
    <mc:Fallback xmlns="">
      <p:transition spd="slow" advTm="13043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3E77-4A15-0CD9-01EC-0BC3377A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F3E5F8-4C4F-09E6-D140-4832BAD9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BDAA8CD-298B-8053-3439-03E8556A0C91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97343-9916-6CB9-9D74-362C4C5EAEFD}"/>
              </a:ext>
            </a:extLst>
          </p:cNvPr>
          <p:cNvSpPr txBox="1"/>
          <p:nvPr/>
        </p:nvSpPr>
        <p:spPr>
          <a:xfrm>
            <a:off x="1568445" y="957986"/>
            <a:ext cx="7460051" cy="1231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9.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Does the payment method have a relation with other columns?</a:t>
            </a: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dirty="0">
              <a:solidFill>
                <a:srgbClr val="F01689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5F369-CE82-E237-9D8C-229701FB5E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"/>
          <a:stretch>
            <a:fillRect/>
          </a:stretch>
        </p:blipFill>
        <p:spPr bwMode="auto">
          <a:xfrm>
            <a:off x="1874813" y="1573699"/>
            <a:ext cx="3659052" cy="28154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7AC67-52B7-5B82-A9CD-6AF2794A3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161" y="1552341"/>
            <a:ext cx="3398335" cy="281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49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92">
        <p159:morph option="byObject"/>
      </p:transition>
    </mc:Choice>
    <mc:Fallback xmlns="">
      <p:transition spd="slow" advTm="2492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B77C-275F-56F5-7BCB-DF7A911E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A440C3-C0BA-F03B-8158-6CF5197C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8AD4658-3BE0-85CA-EBCA-C81FF179C51C}"/>
              </a:ext>
            </a:extLst>
          </p:cNvPr>
          <p:cNvSpPr txBox="1">
            <a:spLocks/>
          </p:cNvSpPr>
          <p:nvPr/>
        </p:nvSpPr>
        <p:spPr>
          <a:xfrm>
            <a:off x="5693664" y="2895600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56AE7-241F-31FA-150C-07DC7744257F}"/>
              </a:ext>
            </a:extLst>
          </p:cNvPr>
          <p:cNvSpPr txBox="1"/>
          <p:nvPr/>
        </p:nvSpPr>
        <p:spPr>
          <a:xfrm>
            <a:off x="1568446" y="1034989"/>
            <a:ext cx="6100232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b="1" kern="100" dirty="0">
                <a:solidFill>
                  <a:srgbClr val="F01689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IN" sz="1800" b="1" kern="100" dirty="0">
                <a:solidFill>
                  <a:srgbClr val="F01689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N" b="1" dirty="0">
                <a:solidFill>
                  <a:srgbClr val="F01689"/>
                </a:solidFill>
                <a:latin typeface="Comic Sans MS" panose="030F0702030302020204" pitchFamily="66" charset="0"/>
              </a:rPr>
              <a:t>How is the distribution of payment methods?</a:t>
            </a:r>
            <a:endParaRPr lang="en-IN" sz="1800" kern="100" dirty="0">
              <a:solidFill>
                <a:srgbClr val="F01689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9CBC24-79C1-BA17-EBD4-7B1637382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90" y="1560016"/>
            <a:ext cx="3896021" cy="3150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2257E4-2699-9822-D1EA-FD6B9EC63FB5}"/>
              </a:ext>
            </a:extLst>
          </p:cNvPr>
          <p:cNvSpPr txBox="1"/>
          <p:nvPr/>
        </p:nvSpPr>
        <p:spPr>
          <a:xfrm>
            <a:off x="1997074" y="4972735"/>
            <a:ext cx="699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Cash is the most used payment method (~45%), followed by Credit Card and Debit Card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5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2438">
        <p159:morph option="byObject"/>
      </p:transition>
    </mc:Choice>
    <mc:Fallback xmlns="">
      <p:transition spd="slow" advTm="12438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FFAB-6219-EA60-7D83-81A1791E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D93-F97F-BF23-DA90-DD82FEFD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5" y="411480"/>
            <a:ext cx="10176765" cy="1252220"/>
          </a:xfrm>
        </p:spPr>
        <p:txBody>
          <a:bodyPr/>
          <a:lstStyle/>
          <a:p>
            <a:r>
              <a:rPr lang="en-US" sz="3200" dirty="0"/>
              <a:t>Overall insights and recommendations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0CAEB8-7655-F7AB-DFBA-FBCBAA0C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6F460-5015-D4B3-586A-E0CDAFC1A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46" y="1892808"/>
            <a:ext cx="7644664" cy="40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1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5585">
        <p159:morph option="byObject"/>
      </p:transition>
    </mc:Choice>
    <mc:Fallback xmlns="">
      <p:transition spd="slow" advTm="45585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CC3AC-05B1-7C98-A1AA-A2FC66A8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4443-8B23-8FF2-45D4-80BF5E62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Challenges Faced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BF7CF-D32E-C62C-AF77-E13D5C81A5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99F5CD0-CF56-4C9F-55E4-FE1C56CA0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6700" y="1926165"/>
            <a:ext cx="8168774" cy="3985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Age Group Sorting Issue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Age groups stored as text caused incorrect order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Resolved using “Sort by Column”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Dashboard Design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Difficulty in creating a clean and balanced layout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Visualization Selection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Choosing the right charts for clear insights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394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8299">
        <p159:morph option="byObject"/>
      </p:transition>
    </mc:Choice>
    <mc:Fallback xmlns="">
      <p:transition spd="slow" advTm="88299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C0B4-A83A-9AAC-4491-05FF201A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02FC-D2FE-FA8D-97D5-F78535CE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527304"/>
            <a:ext cx="8878824" cy="1069848"/>
          </a:xfrm>
        </p:spPr>
        <p:txBody>
          <a:bodyPr>
            <a:normAutofit/>
          </a:bodyPr>
          <a:lstStyle/>
          <a:p>
            <a:r>
              <a:rPr lang="en-IN" dirty="0"/>
              <a:t>Key Learnings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5B792-445A-5664-A54E-2FB167F62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22CDFE-F0AF-6A1C-9C3A-73326A7406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2758" y="1633592"/>
            <a:ext cx="9072956" cy="4446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Comic Sans MS" panose="030F0702030302020204" pitchFamily="66" charset="0"/>
              </a:rPr>
              <a:t>Gained hands-on experience in Power BI and data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6"/>
                </a:solidFill>
                <a:latin typeface="Comic Sans MS" panose="030F0702030302020204" pitchFamily="66" charset="0"/>
              </a:rPr>
              <a:t>Learned to: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Clean and prepare datasets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Create calculated measures (Revenue)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Perform customer segmentation (Age Groups)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Build interactive dashboards with KPIs &amp; slicers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• Choose effective visualizations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Comic Sans MS" panose="030F0702030302020204" pitchFamily="66" charset="0"/>
              </a:rPr>
              <a:t>Improved usability using navigation buttons (Home, Reset, Next)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752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1564">
        <p159:morph option="byObject"/>
      </p:transition>
    </mc:Choice>
    <mc:Fallback xmlns="">
      <p:transition spd="slow" advTm="21564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4ED2-1304-A060-EC5E-0AF392AC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D6D-50AC-C3F3-A9EF-C9D151AD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Conclusion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1D52E-EED5-E1A8-FB82-CADD5B9702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BF8B4B-15E7-1FBB-D8D2-57BA300D2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6700" y="1749741"/>
            <a:ext cx="6179553" cy="2055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Data-driven insights improve decisions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Dashboard helps easy analysis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Helps in marketing &amp; business growth </a:t>
            </a:r>
          </a:p>
        </p:txBody>
      </p:sp>
    </p:spTree>
    <p:extLst>
      <p:ext uri="{BB962C8B-B14F-4D97-AF65-F5344CB8AC3E}">
        <p14:creationId xmlns:p14="http://schemas.microsoft.com/office/powerpoint/2010/main" val="3885786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419">
        <p159:morph option="byObject"/>
      </p:transition>
    </mc:Choice>
    <mc:Fallback xmlns="">
      <p:transition spd="slow" advTm="15419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673">
        <p159:morph option="byObject"/>
      </p:transition>
    </mc:Choice>
    <mc:Fallback xmlns="">
      <p:transition spd="slow" advTm="1673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246</TotalTime>
  <Words>724</Words>
  <Application>Microsoft Office PowerPoint</Application>
  <PresentationFormat>Widescreen</PresentationFormat>
  <Paragraphs>137</Paragraphs>
  <Slides>32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Comic Sans MS</vt:lpstr>
      <vt:lpstr>Courier New</vt:lpstr>
      <vt:lpstr>Segoe UI Light</vt:lpstr>
      <vt:lpstr>Tw Cen MT</vt:lpstr>
      <vt:lpstr>Wingdings</vt:lpstr>
      <vt:lpstr>Office Theme</vt:lpstr>
      <vt:lpstr>Customer Data Analysis Istanbul Shopping Malls –(2021-2023)</vt:lpstr>
      <vt:lpstr>INTRODUCTION</vt:lpstr>
      <vt:lpstr>OBJECTIVES</vt:lpstr>
      <vt:lpstr>Dataset overview</vt:lpstr>
      <vt:lpstr>Dataset </vt:lpstr>
      <vt:lpstr>Data Preparation</vt:lpstr>
      <vt:lpstr>Data Cleaning</vt:lpstr>
      <vt:lpstr>Dashboard overview</vt:lpstr>
      <vt:lpstr>Gender based analysis</vt:lpstr>
      <vt:lpstr>Gender Insights</vt:lpstr>
      <vt:lpstr>Age based analysis</vt:lpstr>
      <vt:lpstr>AGE GROUP Insights</vt:lpstr>
      <vt:lpstr>Category based analysis</vt:lpstr>
      <vt:lpstr>Category Insights</vt:lpstr>
      <vt:lpstr>Payment based analysis</vt:lpstr>
      <vt:lpstr>Payment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Overall insights and recommendations</vt:lpstr>
      <vt:lpstr>Challenges Faced</vt:lpstr>
      <vt:lpstr>Key Learnings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 helan</dc:creator>
  <cp:lastModifiedBy>Jeni helan</cp:lastModifiedBy>
  <cp:revision>13</cp:revision>
  <dcterms:created xsi:type="dcterms:W3CDTF">2026-03-22T12:34:29Z</dcterms:created>
  <dcterms:modified xsi:type="dcterms:W3CDTF">2026-03-23T04:11:53Z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